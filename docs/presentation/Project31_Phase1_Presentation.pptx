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sz="2600" b="1">
                <a:solidFill>
                  <a:srgbClr val="000000"/>
                </a:solidFill>
                <a:latin typeface="Calibri"/>
              </a:rPr>
              <a:t>Cross-Domain Rumor Verification: Detecting Informed Trading Footprints via Sequential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Team Number: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>
                <a:solidFill>
                  <a:srgbClr val="000000"/>
                </a:solidFill>
                <a:latin typeface="Calibri"/>
              </a:rPr>
              <a:t>Sumukha Rao H  (NNM23IS189)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>
                <a:solidFill>
                  <a:srgbClr val="000000"/>
                </a:solidFill>
                <a:latin typeface="Calibri"/>
              </a:rPr>
              <a:t>Swati Prabhu  (NNM23IS192)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>
                <a:solidFill>
                  <a:srgbClr val="000000"/>
                </a:solidFill>
                <a:latin typeface="Calibri"/>
              </a:rPr>
              <a:t>Ujwal Hegde  (NNM23IS201)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>
                <a:solidFill>
                  <a:srgbClr val="000000"/>
                </a:solidFill>
                <a:latin typeface="Calibri"/>
              </a:rPr>
              <a:t>Vachan J Poojary  (NNM23IS205)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Guide: Dr. Vaikunth Pai</a:t>
            </a:r>
          </a:p>
        </p:txBody>
      </p:sp>
      <p:pic>
        <p:nvPicPr>
          <p:cNvPr id="7" name="Picture 6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Introduction</a:t>
            </a:r>
          </a:p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Literature Gap</a:t>
            </a:r>
          </a:p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Motivation</a:t>
            </a:r>
          </a:p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Problem Statement</a:t>
            </a:r>
          </a:p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Objectives</a:t>
            </a:r>
          </a:p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Methodology</a:t>
            </a:r>
          </a:p>
          <a:p>
            <a:pPr marL="256032" indent="-256032">
              <a:lnSpc>
                <a:spcPct val="100000"/>
              </a:lnSpc>
              <a:spcAft>
                <a:spcPts val="1800"/>
              </a:spcAft>
              <a:buFont typeface="Arial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2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Rumors appear on Reddit hours before official news — a few real, most noise.</a:t>
            </a:r>
          </a:p>
          <a:p>
            <a:pPr marL="256032" indent="-256032">
              <a:lnSpc>
                <a:spcPct val="100000"/>
              </a:lnSpc>
              <a:spcAft>
                <a:spcPts val="2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The stock often moves before the announcement becomes public.</a:t>
            </a:r>
          </a:p>
          <a:p>
            <a:pPr marL="256032" indent="-256032">
              <a:lnSpc>
                <a:spcPct val="100000"/>
              </a:lnSpc>
              <a:spcAft>
                <a:spcPts val="2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Verification is a timing problem: waiting adds evidence but spends the advantage.</a:t>
            </a:r>
          </a:p>
          <a:p>
            <a:pPr marL="256032" indent="-256032">
              <a:lnSpc>
                <a:spcPct val="100000"/>
              </a:lnSpc>
              <a:spcAft>
                <a:spcPts val="2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Our system re-decides every hour: WAIT, or COMMIT to TRUE or FALSE.</a:t>
            </a:r>
          </a:p>
          <a:p>
            <a:pPr marL="256032" indent="-256032">
              <a:lnSpc>
                <a:spcPct val="100000"/>
              </a:lnSpc>
              <a:spcAft>
                <a:spcPts val="2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Evidence spans two domains — Reddit activity and hourly price and volume.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LITERATURE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Existing rumor detection (Castillo 2011, Ma 2016, Zubiaga 2018) classifies a post once, at a fixed cut-off.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It never chooses when to decide, and cannot abstain when evidence is thin.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Social signals only — the market's reaction to the claim goes unused.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Financial NLP predicts returns after news, not veracity before it.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Earliness is a by-product of the chosen horizon, never an optimised objective.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No dataset links a rumor's first post to the document that later confirms it.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A verdict that arrives after the press release has no value.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Abnormal price and volume before an announcement is a footprint of informed trading.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The real trade-off is accuracy against hours saved.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A wrong early verdict costs more than a slow one, so the agent may keep waiting.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Free-tier data keeps the whole study reproducible on student hardware.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Purpose is market-integrity monitoring — not trading advice.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Input: a rumor event — ticker, claim, first-post time t₀ — with evidence arriving hourly.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Each hour the agent picks one action: WAIT, COMMIT_TRUE or COMMIT_FALSE.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Ground truth: t_official — the first SEC filing or whitelisted article within 72 h.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Goal: be correct, and be early — maximise Δ = t_official − t_commit.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Constraint: features at step t use only data timestamped ≤ t₀ + t.</a:t>
            </a:r>
          </a:p>
          <a:p>
            <a:pPr marL="256032" indent="-256032">
              <a:lnSpc>
                <a:spcPct val="100000"/>
              </a:lnSpc>
              <a:spcAft>
                <a:spcPts val="22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Scope: binary veracity, US-listed tickers, 48-hour decision horizon.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10896" indent="-310896">
              <a:lnSpc>
                <a:spcPct val="100000"/>
              </a:lnSpc>
              <a:spcAft>
                <a:spcPts val="2200"/>
              </a:spcAft>
              <a:buFont typeface="Calibri"/>
              <a:buAutoNum type="arabicPeriod" startAt="1"/>
            </a:pPr>
            <a:r>
              <a:rPr sz="2000">
                <a:solidFill>
                  <a:srgbClr val="000000"/>
                </a:solidFill>
                <a:latin typeface="Calibri"/>
              </a:rPr>
              <a:t>Build a labelled dataset of rumor events with confirmation timestamps.</a:t>
            </a:r>
          </a:p>
          <a:p>
            <a:pPr marL="310896" indent="-310896">
              <a:lnSpc>
                <a:spcPct val="100000"/>
              </a:lnSpc>
              <a:spcAft>
                <a:spcPts val="2200"/>
              </a:spcAft>
              <a:buFont typeface="Calibri"/>
              <a:buAutoNum type="arabicPeriod"/>
            </a:pPr>
            <a:r>
              <a:rPr sz="2000">
                <a:solidFill>
                  <a:srgbClr val="000000"/>
                </a:solidFill>
                <a:latin typeface="Calibri"/>
              </a:rPr>
              <a:t>Turn each event into an hourly state: text, social and market features.</a:t>
            </a:r>
          </a:p>
          <a:p>
            <a:pPr marL="310896" indent="-310896">
              <a:lnSpc>
                <a:spcPct val="100000"/>
              </a:lnSpc>
              <a:spcAft>
                <a:spcPts val="2200"/>
              </a:spcAft>
              <a:buFont typeface="Calibri"/>
              <a:buAutoNum type="arabicPeriod"/>
            </a:pPr>
            <a:r>
              <a:rPr sz="2000">
                <a:solidFill>
                  <a:srgbClr val="000000"/>
                </a:solidFill>
                <a:latin typeface="Calibri"/>
              </a:rPr>
              <a:t>Model verification as a three-action MDP; train with PPO and DQN.</a:t>
            </a:r>
          </a:p>
          <a:p>
            <a:pPr marL="310896" indent="-310896">
              <a:lnSpc>
                <a:spcPct val="100000"/>
              </a:lnSpc>
              <a:spcAft>
                <a:spcPts val="2200"/>
              </a:spcAft>
              <a:buFont typeface="Calibri"/>
              <a:buAutoNum type="arabicPeriod"/>
            </a:pPr>
            <a:r>
              <a:rPr sz="2000">
                <a:solidFill>
                  <a:srgbClr val="000000"/>
                </a:solidFill>
                <a:latin typeface="Calibri"/>
              </a:rPr>
              <a:t>Compare against fixed-horizon baselines and a zero-shot LLM policy.</a:t>
            </a:r>
          </a:p>
          <a:p>
            <a:pPr marL="310896" indent="-310896">
              <a:lnSpc>
                <a:spcPct val="100000"/>
              </a:lnSpc>
              <a:spcAft>
                <a:spcPts val="2200"/>
              </a:spcAft>
              <a:buFont typeface="Calibri"/>
              <a:buAutoNum type="arabicPeriod"/>
            </a:pPr>
            <a:r>
              <a:rPr sz="2000">
                <a:solidFill>
                  <a:srgbClr val="000000"/>
                </a:solidFill>
                <a:latin typeface="Calibri"/>
              </a:rPr>
              <a:t>Evaluate accuracy/F1, calibration (Brier, ECE) and Time Delta Advantage.</a:t>
            </a:r>
          </a:p>
          <a:p>
            <a:pPr marL="310896" indent="-310896">
              <a:lnSpc>
                <a:spcPct val="100000"/>
              </a:lnSpc>
              <a:spcAft>
                <a:spcPts val="2200"/>
              </a:spcAft>
              <a:buFont typeface="Calibri"/>
              <a:buAutoNum type="arabicPeriod"/>
            </a:pPr>
            <a:r>
              <a:rPr sz="2000">
                <a:solidFill>
                  <a:srgbClr val="000000"/>
                </a:solidFill>
                <a:latin typeface="Calibri"/>
              </a:rPr>
              <a:t>Demonstrate hour-by-hour replay of an event in a dashboard.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2587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Reddit posts</a:t>
            </a:r>
          </a:p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alibri"/>
              </a:rPr>
              <a:t>Arctic Shift · 5 subreddits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78124" y="841248"/>
            <a:ext cx="2587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Price &amp; volume</a:t>
            </a:r>
          </a:p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alibri"/>
              </a:rPr>
              <a:t>yfinance · hourly bars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3328" y="841248"/>
            <a:ext cx="2587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News &amp; filings</a:t>
            </a:r>
          </a:p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alibri"/>
              </a:rPr>
              <a:t>GDELT · Finnhub · SEC EDGAR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96796" y="1408176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1408176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47204" y="1408176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700784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SQLite store — all timestamps in UTC   (106.9k posts · 3.7M bars)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121408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414016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Event construction — ticker matching → keyword filter → LLM triage → 12 h clustering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834640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127248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Ground-truth labelling — TRUE / FALSE / UNVERIFIED, human reviewed   (1,170 rumor events)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547872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3840480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Hourly state vector (418-d) — MiniLM + FinBERT · social · market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96796" y="4261104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4261104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47204" y="4261104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4553712"/>
            <a:ext cx="258775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RL agent (PPO / DQN)</a:t>
            </a:r>
          </a:p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alibri"/>
              </a:rPr>
              <a:t>WAIT · COMMIT_TRUE · COMMIT_FALSE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8124" y="4553712"/>
            <a:ext cx="258775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Static baselines</a:t>
            </a:r>
          </a:p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alibri"/>
              </a:rPr>
              <a:t>fixed horizons 6/12/24 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4553712"/>
            <a:ext cx="258775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LLM policy</a:t>
            </a:r>
          </a:p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alibri"/>
              </a:rPr>
              <a:t>zero-shot, test split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96796" y="5157216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5157216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47204" y="5157216"/>
            <a:ext cx="0" cy="2926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2920" y="5449824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</a:rPr>
              <a:t>Evaluation — Accuracy / F1 · Brier · ECE · Time Delta Advantage Δ</a:t>
            </a:r>
          </a:p>
        </p:txBody>
      </p:sp>
      <p:pic>
        <p:nvPicPr>
          <p:cNvPr id="26" name="Picture 25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5349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 startAt="1"/>
            </a:pPr>
            <a:r>
              <a:rPr sz="1600">
                <a:solidFill>
                  <a:srgbClr val="000000"/>
                </a:solidFill>
                <a:latin typeface="Calibri"/>
              </a:rPr>
              <a:t>Castillo, C., Mendoza, M., Poblete, B. (2011). Information Credibility on Twitter. WWW ’11, 675–684.</a:t>
            </a:r>
          </a:p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/>
            </a:pPr>
            <a:r>
              <a:rPr sz="1600">
                <a:solidFill>
                  <a:srgbClr val="000000"/>
                </a:solidFill>
                <a:latin typeface="Calibri"/>
              </a:rPr>
              <a:t>Ma, J., Gao, W., Mitra, P., et al. (2016). Detecting Rumors from Microblogs with Recurrent Neural Networks. IJCAI 2016, 3818–3824.</a:t>
            </a:r>
          </a:p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/>
            </a:pPr>
            <a:r>
              <a:rPr sz="1600">
                <a:solidFill>
                  <a:srgbClr val="000000"/>
                </a:solidFill>
                <a:latin typeface="Calibri"/>
              </a:rPr>
              <a:t>Ma, J., Gao, W., Wong, K.-F. (2017). Detect Rumors in Microblog Posts Using Propagation Structure via Kernel Learning. ACL 2017, 708–717.</a:t>
            </a:r>
          </a:p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/>
            </a:pPr>
            <a:r>
              <a:rPr sz="1600">
                <a:solidFill>
                  <a:srgbClr val="000000"/>
                </a:solidFill>
                <a:latin typeface="Calibri"/>
              </a:rPr>
              <a:t>Zubiaga, A., Aker, A., Bontcheva, K., et al. (2018). Detection and Resolution of Rumours in Social Media: A Survey. ACM Computing Surveys, 51(2), 1–36.</a:t>
            </a:r>
          </a:p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/>
            </a:pPr>
            <a:r>
              <a:rPr sz="1600">
                <a:solidFill>
                  <a:srgbClr val="000000"/>
                </a:solidFill>
                <a:latin typeface="Calibri"/>
              </a:rPr>
              <a:t>Zhou, K., Shu, C., Li, B., Lau, J. H. (2019). Early Rumour Detection. NAACL-HLT 2019, 1614–1623.</a:t>
            </a:r>
          </a:p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/>
            </a:pPr>
            <a:r>
              <a:rPr sz="1600">
                <a:solidFill>
                  <a:srgbClr val="000000"/>
                </a:solidFill>
                <a:latin typeface="Calibri"/>
              </a:rPr>
              <a:t>Vosoughi, S., Roy, D., Aral, S. (2018). The Spread of True and False News Online. Science, 359(6380), 1146–1151.</a:t>
            </a:r>
          </a:p>
          <a:p>
            <a:pPr marL="310896" indent="-310896">
              <a:lnSpc>
                <a:spcPct val="100000"/>
              </a:lnSpc>
              <a:spcAft>
                <a:spcPts val="1200"/>
              </a:spcAft>
              <a:buFont typeface="Calibri"/>
              <a:buAutoNum type="arabicPeriod"/>
            </a:pPr>
            <a:r>
              <a:rPr sz="1600">
                <a:solidFill>
                  <a:srgbClr val="000000"/>
                </a:solidFill>
                <a:latin typeface="Calibri"/>
              </a:rPr>
              <a:t>Schulman, J., Wolski, F., Dhariwal, P., et al. (2017). Proximal Policy Optimization Algorithms. arXiv:1707.06347.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4472C4"/>
          </a:solidFill>
          <a:ln w="12700">
            <a:solidFill>
              <a:srgbClr val="1F3864"/>
            </a:solidFill>
          </a:ln>
          <a:effectLst/>
        </p:spPr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sz="4000" b="1">
                <a:solidFill>
                  <a:srgbClr val="000000"/>
                </a:solidFill>
                <a:latin typeface="Calibri"/>
              </a:rPr>
              <a:t>THANK YOU</a:t>
            </a:r>
          </a:p>
        </p:txBody>
      </p:sp>
      <p:pic>
        <p:nvPicPr>
          <p:cNvPr id="4" name="Picture 3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6400800"/>
            <a:ext cx="1664208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6574536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Calibri"/>
              </a:rPr>
              <a:t>Department of 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74536"/>
            <a:ext cx="11704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